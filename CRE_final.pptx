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IBM Plex Sans"/>
      <p:regular r:id="rId13"/>
      <p:bold r:id="rId14"/>
      <p:italic r:id="rId15"/>
      <p:boldItalic r:id="rId16"/>
    </p:embeddedFont>
    <p:embeddedFont>
      <p:font typeface="Sora SemiBold"/>
      <p:regular r:id="rId17"/>
      <p:bold r:id="rId18"/>
    </p:embeddedFont>
    <p:embeddedFont>
      <p:font typeface="Outfit"/>
      <p:regular r:id="rId19"/>
      <p:bold r:id="rId20"/>
    </p:embeddedFont>
    <p:embeddedFont>
      <p:font typeface="IBM Plex Sans Medium"/>
      <p:regular r:id="rId21"/>
      <p:bold r:id="rId22"/>
      <p:italic r:id="rId23"/>
      <p:boldItalic r:id="rId24"/>
    </p:embeddedFont>
    <p:embeddedFont>
      <p:font typeface="Sora Light"/>
      <p:regular r:id="rId25"/>
      <p:bold r:id="rId26"/>
    </p:embeddedFont>
    <p:embeddedFont>
      <p:font typeface="Sora ExtraLight"/>
      <p:regular r:id="rId27"/>
      <p:bold r:id="rId28"/>
    </p:embeddedFont>
    <p:embeddedFont>
      <p:font typeface="Outfit Medium"/>
      <p:regular r:id="rId29"/>
      <p:bold r:id="rId30"/>
    </p:embeddedFont>
    <p:embeddedFont>
      <p:font typeface="Outfit SemiBold"/>
      <p:regular r:id="rId31"/>
      <p:bold r:id="rId32"/>
    </p:embeddedFont>
    <p:embeddedFont>
      <p:font typeface="Sora"/>
      <p:regular r:id="rId33"/>
      <p:bold r:id="rId34"/>
    </p:embeddedFont>
    <p:embeddedFont>
      <p:font typeface="Sora Medium"/>
      <p:regular r:id="rId35"/>
      <p:bold r:id="rId36"/>
    </p:embeddedFont>
    <p:embeddedFont>
      <p:font typeface="IBM Plex Sa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3FD377-FE81-4AFF-BE09-7D966472A7CD}">
  <a:tblStyle styleId="{8C3FD377-FE81-4AFF-BE09-7D966472A7C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utfitSemiBold-regular.fntdata"/><Relationship Id="rId30" Type="http://schemas.openxmlformats.org/officeDocument/2006/relationships/font" Target="fonts/OutfitMedium-bold.fntdata"/><Relationship Id="rId33" Type="http://schemas.openxmlformats.org/officeDocument/2006/relationships/font" Target="fonts/Sora-regular.fntdata"/><Relationship Id="rId32" Type="http://schemas.openxmlformats.org/officeDocument/2006/relationships/font" Target="fonts/OutfitSemiBold-bold.fntdata"/><Relationship Id="rId35" Type="http://schemas.openxmlformats.org/officeDocument/2006/relationships/font" Target="fonts/SoraMedium-regular.fntdata"/><Relationship Id="rId34" Type="http://schemas.openxmlformats.org/officeDocument/2006/relationships/font" Target="fonts/Sora-bold.fntdata"/><Relationship Id="rId37" Type="http://schemas.openxmlformats.org/officeDocument/2006/relationships/font" Target="fonts/IBMPlexSansSemiBold-regular.fntdata"/><Relationship Id="rId36" Type="http://schemas.openxmlformats.org/officeDocument/2006/relationships/font" Target="fonts/SoraMedium-bold.fntdata"/><Relationship Id="rId39" Type="http://schemas.openxmlformats.org/officeDocument/2006/relationships/font" Target="fonts/IBMPlexSansSemiBold-italic.fntdata"/><Relationship Id="rId38" Type="http://schemas.openxmlformats.org/officeDocument/2006/relationships/font" Target="fonts/IBMPlexSansSemiBold-bold.fntdata"/><Relationship Id="rId20" Type="http://schemas.openxmlformats.org/officeDocument/2006/relationships/font" Target="fonts/Outfit-bold.fntdata"/><Relationship Id="rId22" Type="http://schemas.openxmlformats.org/officeDocument/2006/relationships/font" Target="fonts/IBMPlexSansMedium-bold.fntdata"/><Relationship Id="rId21" Type="http://schemas.openxmlformats.org/officeDocument/2006/relationships/font" Target="fonts/IBMPlexSansMedium-regular.fntdata"/><Relationship Id="rId24" Type="http://schemas.openxmlformats.org/officeDocument/2006/relationships/font" Target="fonts/IBMPlexSansMedium-boldItalic.fntdata"/><Relationship Id="rId23" Type="http://schemas.openxmlformats.org/officeDocument/2006/relationships/font" Target="fonts/IBMPlexSansMedium-italic.fntdata"/><Relationship Id="rId26" Type="http://schemas.openxmlformats.org/officeDocument/2006/relationships/font" Target="fonts/SoraLight-bold.fntdata"/><Relationship Id="rId25" Type="http://schemas.openxmlformats.org/officeDocument/2006/relationships/font" Target="fonts/SoraLight-regular.fntdata"/><Relationship Id="rId28" Type="http://schemas.openxmlformats.org/officeDocument/2006/relationships/font" Target="fonts/SoraExtraLight-bold.fntdata"/><Relationship Id="rId27" Type="http://schemas.openxmlformats.org/officeDocument/2006/relationships/font" Target="fonts/SoraExtraLight-regular.fntdata"/><Relationship Id="rId29" Type="http://schemas.openxmlformats.org/officeDocument/2006/relationships/font" Target="fonts/OutfitMedium-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IBMPlexSans-regular.fntdata"/><Relationship Id="rId12" Type="http://schemas.openxmlformats.org/officeDocument/2006/relationships/slide" Target="slides/slide6.xml"/><Relationship Id="rId15" Type="http://schemas.openxmlformats.org/officeDocument/2006/relationships/font" Target="fonts/IBMPlexSans-italic.fntdata"/><Relationship Id="rId14" Type="http://schemas.openxmlformats.org/officeDocument/2006/relationships/font" Target="fonts/IBMPlexSans-bold.fntdata"/><Relationship Id="rId17" Type="http://schemas.openxmlformats.org/officeDocument/2006/relationships/font" Target="fonts/SoraSemiBold-regular.fntdata"/><Relationship Id="rId16" Type="http://schemas.openxmlformats.org/officeDocument/2006/relationships/font" Target="fonts/IBMPlexSans-boldItalic.fntdata"/><Relationship Id="rId19" Type="http://schemas.openxmlformats.org/officeDocument/2006/relationships/font" Target="fonts/Outfit-regular.fntdata"/><Relationship Id="rId18" Type="http://schemas.openxmlformats.org/officeDocument/2006/relationships/font" Target="fonts/Sora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b0e4e451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b0e4e451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b0e4e4515f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b0e4e4515f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0e4e4515f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b0e4e4515f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b0e4e4515f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3b0e4e4515f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b0e4e4515f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b0e4e4515f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b0e4e4515f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b0e4e4515f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7.png"/><Relationship Id="rId11" Type="http://schemas.openxmlformats.org/officeDocument/2006/relationships/image" Target="../media/image8.png"/><Relationship Id="rId10" Type="http://schemas.openxmlformats.org/officeDocument/2006/relationships/image" Target="../media/image13.png"/><Relationship Id="rId13" Type="http://schemas.openxmlformats.org/officeDocument/2006/relationships/image" Target="../media/image5.png"/><Relationship Id="rId12" Type="http://schemas.openxmlformats.org/officeDocument/2006/relationships/image" Target="../media/image2.png"/><Relationship Id="rId15" Type="http://schemas.openxmlformats.org/officeDocument/2006/relationships/image" Target="../media/image15.png"/><Relationship Id="rId14" Type="http://schemas.openxmlformats.org/officeDocument/2006/relationships/image" Target="../media/image14.png"/><Relationship Id="rId17" Type="http://schemas.openxmlformats.org/officeDocument/2006/relationships/image" Target="../media/image12.png"/><Relationship Id="rId1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type="title"/>
          </p:nvPr>
        </p:nvSpPr>
        <p:spPr>
          <a:xfrm>
            <a:off x="74700" y="2237400"/>
            <a:ext cx="6728100" cy="201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Hackathon Challenge Presentation</a:t>
            </a:r>
            <a:endParaRPr>
              <a:solidFill>
                <a:schemeClr val="dk2"/>
              </a:solidFill>
            </a:endParaRPr>
          </a:p>
        </p:txBody>
      </p:sp>
      <p:sp>
        <p:nvSpPr>
          <p:cNvPr id="889" name="Google Shape;889;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SPONSORED BY CCIBT - TECHNOLOGY</a:t>
            </a:r>
            <a:endParaRPr>
              <a:latin typeface="Sora"/>
              <a:ea typeface="Sora"/>
              <a:cs typeface="Sora"/>
              <a:sym typeface="Sora"/>
            </a:endParaRPr>
          </a:p>
          <a:p>
            <a:pPr indent="-292100" lvl="0" marL="457200" rtl="0" algn="l">
              <a:spcBef>
                <a:spcPts val="0"/>
              </a:spcBef>
              <a:spcAft>
                <a:spcPts val="0"/>
              </a:spcAft>
              <a:buSzPts val="1000"/>
              <a:buFont typeface="Sora"/>
              <a:buChar char="●"/>
            </a:pPr>
            <a:r>
              <a:rPr lang="en">
                <a:latin typeface="Sora"/>
                <a:ea typeface="Sora"/>
                <a:cs typeface="Sora"/>
                <a:sym typeface="Sora"/>
              </a:rPr>
              <a:t>HYDERABAD &amp; BANGALORE: MONDAY, DECEMBER 15</a:t>
            </a:r>
            <a:endParaRPr>
              <a:latin typeface="Sora"/>
              <a:ea typeface="Sora"/>
              <a:cs typeface="Sora"/>
              <a:sym typeface="Sora"/>
            </a:endParaRPr>
          </a:p>
          <a:p>
            <a:pPr indent="-292100" lvl="0" marL="457200" rtl="0" algn="l">
              <a:spcBef>
                <a:spcPts val="0"/>
              </a:spcBef>
              <a:spcAft>
                <a:spcPts val="0"/>
              </a:spcAft>
              <a:buSzPts val="1000"/>
              <a:buFont typeface="Sora"/>
              <a:buChar char="●"/>
            </a:pPr>
            <a:r>
              <a:rPr lang="en">
                <a:latin typeface="Sora"/>
                <a:ea typeface="Sora"/>
                <a:cs typeface="Sora"/>
                <a:sym typeface="Sora"/>
              </a:rPr>
              <a:t>CHARLOTTE &amp; NEW YORK: TUESDAY, DECEMBER 16</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the team</a:t>
            </a:r>
            <a:endParaRPr/>
          </a:p>
        </p:txBody>
      </p:sp>
      <p:graphicFrame>
        <p:nvGraphicFramePr>
          <p:cNvPr id="895" name="Google Shape;895;p52"/>
          <p:cNvGraphicFramePr/>
          <p:nvPr/>
        </p:nvGraphicFramePr>
        <p:xfrm>
          <a:off x="228600" y="2159650"/>
          <a:ext cx="3000000" cy="3000000"/>
        </p:xfrm>
        <a:graphic>
          <a:graphicData uri="http://schemas.openxmlformats.org/drawingml/2006/table">
            <a:tbl>
              <a:tblPr>
                <a:noFill/>
                <a:tableStyleId>{8C3FD377-FE81-4AFF-BE09-7D966472A7CD}</a:tableStyleId>
              </a:tblPr>
              <a:tblGrid>
                <a:gridCol w="2247125"/>
              </a:tblGrid>
              <a:tr h="381000">
                <a:tc>
                  <a:txBody>
                    <a:bodyPr/>
                    <a:lstStyle/>
                    <a:p>
                      <a:pPr indent="0" lvl="0" marL="0" rtl="0" algn="l">
                        <a:spcBef>
                          <a:spcPts val="0"/>
                        </a:spcBef>
                        <a:spcAft>
                          <a:spcPts val="0"/>
                        </a:spcAft>
                        <a:buNone/>
                      </a:pPr>
                      <a:r>
                        <a:rPr lang="en">
                          <a:solidFill>
                            <a:schemeClr val="dk1"/>
                          </a:solidFill>
                        </a:rPr>
                        <a:t>Sudhir R Puchakayala</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Suhail A Mansoori</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Vijay rahul</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Vamsi Krishna</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Sanjeev Kumar</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Shruthi R</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Siddarth Chhetri</a:t>
                      </a:r>
                      <a:endParaRPr>
                        <a:solidFill>
                          <a:schemeClr val="dk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896" name="Google Shape;896;p52"/>
          <p:cNvSpPr txBox="1"/>
          <p:nvPr/>
        </p:nvSpPr>
        <p:spPr>
          <a:xfrm>
            <a:off x="3063300" y="2159650"/>
            <a:ext cx="5556300" cy="18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ra"/>
                <a:ea typeface="Sora"/>
                <a:cs typeface="Sora"/>
                <a:sym typeface="Sora"/>
              </a:rPr>
              <a:t>Challenge Description</a:t>
            </a:r>
            <a:endParaRPr b="1" sz="1200">
              <a:solidFill>
                <a:schemeClr val="dk1"/>
              </a:solidFill>
              <a:latin typeface="Sora"/>
              <a:ea typeface="Sora"/>
              <a:cs typeface="Sora"/>
              <a:sym typeface="Sora"/>
            </a:endParaRPr>
          </a:p>
          <a:p>
            <a:pPr indent="0" lvl="0" marL="0" rtl="0" algn="l">
              <a:spcBef>
                <a:spcPts val="0"/>
              </a:spcBef>
              <a:spcAft>
                <a:spcPts val="0"/>
              </a:spcAft>
              <a:buNone/>
            </a:pPr>
            <a:r>
              <a:t/>
            </a:r>
            <a:endParaRPr sz="1200">
              <a:solidFill>
                <a:schemeClr val="dk1"/>
              </a:solidFill>
              <a:latin typeface="Sora"/>
              <a:ea typeface="Sora"/>
              <a:cs typeface="Sora"/>
              <a:sym typeface="Sora"/>
            </a:endParaRPr>
          </a:p>
          <a:p>
            <a:pPr indent="0" lvl="0" marL="0" rtl="0" algn="l">
              <a:spcBef>
                <a:spcPts val="0"/>
              </a:spcBef>
              <a:spcAft>
                <a:spcPts val="0"/>
              </a:spcAft>
              <a:buNone/>
            </a:pPr>
            <a:r>
              <a:rPr lang="en" sz="1200">
                <a:solidFill>
                  <a:schemeClr val="dk1"/>
                </a:solidFill>
                <a:latin typeface="Sora"/>
                <a:ea typeface="Sora"/>
                <a:cs typeface="Sora"/>
                <a:sym typeface="Sora"/>
              </a:rPr>
              <a:t>Commercial</a:t>
            </a:r>
            <a:r>
              <a:rPr lang="en" sz="1200">
                <a:solidFill>
                  <a:schemeClr val="dk1"/>
                </a:solidFill>
                <a:latin typeface="Sora"/>
                <a:ea typeface="Sora"/>
                <a:cs typeface="Sora"/>
                <a:sym typeface="Sora"/>
              </a:rPr>
              <a:t> Real Estate Analyzer</a:t>
            </a:r>
            <a:endParaRPr sz="1200">
              <a:solidFill>
                <a:schemeClr val="dk1"/>
              </a:solidFill>
              <a:latin typeface="Sora"/>
              <a:ea typeface="Sora"/>
              <a:cs typeface="Sora"/>
              <a:sym typeface="Sora"/>
            </a:endParaRPr>
          </a:p>
          <a:p>
            <a:pPr indent="0" lvl="0" marL="0" rtl="0" algn="l">
              <a:spcBef>
                <a:spcPts val="0"/>
              </a:spcBef>
              <a:spcAft>
                <a:spcPts val="0"/>
              </a:spcAft>
              <a:buNone/>
            </a:pPr>
            <a:r>
              <a:t/>
            </a:r>
            <a:endParaRPr sz="1200">
              <a:solidFill>
                <a:schemeClr val="dk1"/>
              </a:solidFill>
              <a:latin typeface="Sora"/>
              <a:ea typeface="Sora"/>
              <a:cs typeface="Sora"/>
              <a:sym typeface="Sora"/>
            </a:endParaRPr>
          </a:p>
          <a:p>
            <a:pPr indent="0" lvl="0" marL="0" rtl="0" algn="l">
              <a:spcBef>
                <a:spcPts val="0"/>
              </a:spcBef>
              <a:spcAft>
                <a:spcPts val="0"/>
              </a:spcAft>
              <a:buNone/>
            </a:pPr>
            <a:r>
              <a:rPr lang="en" sz="1200">
                <a:solidFill>
                  <a:schemeClr val="dk1"/>
                </a:solidFill>
                <a:latin typeface="Sora"/>
                <a:ea typeface="Sora"/>
                <a:cs typeface="Sora"/>
                <a:sym typeface="Sora"/>
              </a:rPr>
              <a:t>The </a:t>
            </a:r>
            <a:r>
              <a:rPr lang="en" sz="1200">
                <a:solidFill>
                  <a:schemeClr val="dk1"/>
                </a:solidFill>
                <a:latin typeface="Sora"/>
                <a:ea typeface="Sora"/>
                <a:cs typeface="Sora"/>
                <a:sym typeface="Sora"/>
              </a:rPr>
              <a:t>highly</a:t>
            </a:r>
            <a:r>
              <a:rPr lang="en" sz="1200">
                <a:solidFill>
                  <a:schemeClr val="dk1"/>
                </a:solidFill>
                <a:latin typeface="Sora"/>
                <a:ea typeface="Sora"/>
                <a:cs typeface="Sora"/>
                <a:sym typeface="Sora"/>
              </a:rPr>
              <a:t> time consuming, requiring hours per deal to gather property details, market conditions, demographics, and risk factors. This manual process limits the number of opportunities bankers can evaluate, creates inconsistent underwriting quality, and delays customer response times-reducing competitiveness</a:t>
            </a:r>
            <a:endParaRPr sz="1200">
              <a:solidFill>
                <a:schemeClr val="dk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53"/>
          <p:cNvSpPr txBox="1"/>
          <p:nvPr>
            <p:ph type="title"/>
          </p:nvPr>
        </p:nvSpPr>
        <p:spPr>
          <a:xfrm>
            <a:off x="0" y="0"/>
            <a:ext cx="6507000" cy="6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Overview</a:t>
            </a:r>
            <a:endParaRPr/>
          </a:p>
        </p:txBody>
      </p:sp>
      <p:sp>
        <p:nvSpPr>
          <p:cNvPr id="902" name="Google Shape;902;p53"/>
          <p:cNvSpPr txBox="1"/>
          <p:nvPr>
            <p:ph idx="1" type="subTitle"/>
          </p:nvPr>
        </p:nvSpPr>
        <p:spPr>
          <a:xfrm>
            <a:off x="138350" y="788600"/>
            <a:ext cx="8903100" cy="338700"/>
          </a:xfrm>
          <a:prstGeom prst="rect">
            <a:avLst/>
          </a:prstGeom>
        </p:spPr>
        <p:txBody>
          <a:bodyPr anchorCtr="0" anchor="b" bIns="91425" lIns="91425" spcFirstLastPara="1" rIns="91425" wrap="square" tIns="91425">
            <a:spAutoFit/>
          </a:bodyPr>
          <a:lstStyle/>
          <a:p>
            <a:pPr indent="0" lvl="0" marL="0" rtl="0" algn="l">
              <a:spcBef>
                <a:spcPts val="0"/>
              </a:spcBef>
              <a:spcAft>
                <a:spcPts val="1000"/>
              </a:spcAft>
              <a:buNone/>
            </a:pPr>
            <a:r>
              <a:rPr b="1" lang="en"/>
              <a:t>Solution Approach</a:t>
            </a:r>
            <a:endParaRPr b="1"/>
          </a:p>
        </p:txBody>
      </p:sp>
      <p:pic>
        <p:nvPicPr>
          <p:cNvPr id="903" name="Google Shape;903;p53"/>
          <p:cNvPicPr preferRelativeResize="0"/>
          <p:nvPr/>
        </p:nvPicPr>
        <p:blipFill>
          <a:blip r:embed="rId3">
            <a:alphaModFix/>
          </a:blip>
          <a:stretch>
            <a:fillRect/>
          </a:stretch>
        </p:blipFill>
        <p:spPr>
          <a:xfrm>
            <a:off x="5309125" y="1226800"/>
            <a:ext cx="3732327" cy="3384849"/>
          </a:xfrm>
          <a:prstGeom prst="rect">
            <a:avLst/>
          </a:prstGeom>
          <a:noFill/>
          <a:ln>
            <a:noFill/>
          </a:ln>
        </p:spPr>
      </p:pic>
      <p:sp>
        <p:nvSpPr>
          <p:cNvPr id="904" name="Google Shape;904;p53"/>
          <p:cNvSpPr txBox="1"/>
          <p:nvPr/>
        </p:nvSpPr>
        <p:spPr>
          <a:xfrm>
            <a:off x="142300" y="1345950"/>
            <a:ext cx="4688700" cy="1898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Sora"/>
              <a:buChar char="●"/>
            </a:pPr>
            <a:r>
              <a:rPr b="1" lang="en" sz="1500">
                <a:solidFill>
                  <a:schemeClr val="lt1"/>
                </a:solidFill>
                <a:latin typeface="Outfit"/>
                <a:ea typeface="Outfit"/>
                <a:cs typeface="Outfit"/>
                <a:sym typeface="Outfit"/>
              </a:rPr>
              <a:t>Data Unification</a:t>
            </a:r>
            <a:r>
              <a:rPr lang="en" sz="1500">
                <a:solidFill>
                  <a:schemeClr val="lt1"/>
                </a:solidFill>
                <a:latin typeface="Outfit"/>
                <a:ea typeface="Outfit"/>
                <a:cs typeface="Outfit"/>
                <a:sym typeface="Outfit"/>
              </a:rPr>
              <a:t> Combining 6+ BigQuery datasets: Property, Market Trends, and Flood Risk.</a:t>
            </a:r>
            <a:endParaRPr sz="1500">
              <a:solidFill>
                <a:schemeClr val="lt1"/>
              </a:solidFill>
              <a:latin typeface="Outfit"/>
              <a:ea typeface="Outfit"/>
              <a:cs typeface="Outfit"/>
              <a:sym typeface="Outfit"/>
            </a:endParaRPr>
          </a:p>
          <a:p>
            <a:pPr indent="-323850" lvl="0" marL="457200" rtl="0" algn="l">
              <a:spcBef>
                <a:spcPts val="0"/>
              </a:spcBef>
              <a:spcAft>
                <a:spcPts val="0"/>
              </a:spcAft>
              <a:buClr>
                <a:schemeClr val="lt1"/>
              </a:buClr>
              <a:buSzPts val="1500"/>
              <a:buFont typeface="Outfit"/>
              <a:buChar char="●"/>
            </a:pPr>
            <a:r>
              <a:rPr b="1" lang="en" sz="1500">
                <a:solidFill>
                  <a:schemeClr val="lt1"/>
                </a:solidFill>
                <a:latin typeface="Outfit"/>
                <a:ea typeface="Outfit"/>
                <a:cs typeface="Outfit"/>
                <a:sym typeface="Outfit"/>
              </a:rPr>
              <a:t>Algorithmic Valuation</a:t>
            </a:r>
            <a:r>
              <a:rPr lang="en" sz="1500">
                <a:solidFill>
                  <a:schemeClr val="lt1"/>
                </a:solidFill>
                <a:latin typeface="Outfit"/>
                <a:ea typeface="Outfit"/>
                <a:cs typeface="Outfit"/>
                <a:sym typeface="Outfit"/>
              </a:rPr>
              <a:t> Automatically calculates the property's fair value by incorporating real-time market trends and site-specific risk assessments.</a:t>
            </a:r>
            <a:r>
              <a:rPr lang="en">
                <a:solidFill>
                  <a:schemeClr val="lt1"/>
                </a:solidFill>
              </a:rPr>
              <a:t> </a:t>
            </a:r>
            <a:endParaRPr sz="1500">
              <a:solidFill>
                <a:schemeClr val="lt1"/>
              </a:solidFill>
              <a:latin typeface="Outfit"/>
              <a:ea typeface="Outfit"/>
              <a:cs typeface="Outfit"/>
              <a:sym typeface="Outfit"/>
            </a:endParaRPr>
          </a:p>
          <a:p>
            <a:pPr indent="-323850" lvl="0" marL="457200" rtl="0" algn="l">
              <a:spcBef>
                <a:spcPts val="0"/>
              </a:spcBef>
              <a:spcAft>
                <a:spcPts val="0"/>
              </a:spcAft>
              <a:buClr>
                <a:schemeClr val="lt1"/>
              </a:buClr>
              <a:buSzPts val="1500"/>
              <a:buFont typeface="Outfit"/>
              <a:buChar char="●"/>
            </a:pPr>
            <a:r>
              <a:rPr b="1" lang="en" sz="1500">
                <a:solidFill>
                  <a:schemeClr val="lt1"/>
                </a:solidFill>
                <a:latin typeface="Outfit"/>
                <a:ea typeface="Outfit"/>
                <a:cs typeface="Outfit"/>
                <a:sym typeface="Outfit"/>
              </a:rPr>
              <a:t>Instant Deal Memos</a:t>
            </a:r>
            <a:r>
              <a:rPr lang="en" sz="1500">
                <a:solidFill>
                  <a:schemeClr val="lt1"/>
                </a:solidFill>
                <a:latin typeface="Outfit"/>
                <a:ea typeface="Outfit"/>
                <a:cs typeface="Outfit"/>
                <a:sym typeface="Outfit"/>
              </a:rPr>
              <a:t> Gemini Pro synthesizes risk scores into comprehensive PDF reports.</a:t>
            </a:r>
            <a:endParaRPr>
              <a:solidFill>
                <a:schemeClr val="lt1"/>
              </a:solidFill>
            </a:endParaRPr>
          </a:p>
          <a:p>
            <a:pPr indent="0" lvl="0" marL="457200" rtl="0" algn="l">
              <a:spcBef>
                <a:spcPts val="0"/>
              </a:spcBef>
              <a:spcAft>
                <a:spcPts val="0"/>
              </a:spcAft>
              <a:buNone/>
            </a:pPr>
            <a:r>
              <a:t/>
            </a:r>
            <a:endParaRPr sz="1500">
              <a:solidFill>
                <a:schemeClr val="lt1"/>
              </a:solidFill>
              <a:latin typeface="Outfit"/>
              <a:ea typeface="Outfit"/>
              <a:cs typeface="Outfit"/>
              <a:sym typeface="Outfi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54"/>
          <p:cNvSpPr txBox="1"/>
          <p:nvPr>
            <p:ph idx="2" type="title"/>
          </p:nvPr>
        </p:nvSpPr>
        <p:spPr>
          <a:xfrm>
            <a:off x="0" y="0"/>
            <a:ext cx="5695500" cy="3888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sz="3300"/>
              <a:t>High-Level Architecture</a:t>
            </a:r>
            <a:endParaRPr sz="3300"/>
          </a:p>
        </p:txBody>
      </p:sp>
      <p:pic>
        <p:nvPicPr>
          <p:cNvPr descr="image.png" id="910" name="Google Shape;910;p54"/>
          <p:cNvPicPr preferRelativeResize="0"/>
          <p:nvPr/>
        </p:nvPicPr>
        <p:blipFill rotWithShape="1">
          <a:blip r:embed="rId3">
            <a:alphaModFix/>
          </a:blip>
          <a:srcRect b="0" l="0" r="0" t="0"/>
          <a:stretch/>
        </p:blipFill>
        <p:spPr>
          <a:xfrm>
            <a:off x="395026" y="388801"/>
            <a:ext cx="8260042" cy="4646250"/>
          </a:xfrm>
          <a:prstGeom prst="rect">
            <a:avLst/>
          </a:prstGeom>
          <a:noFill/>
          <a:ln>
            <a:noFill/>
          </a:ln>
        </p:spPr>
      </p:pic>
      <p:pic>
        <p:nvPicPr>
          <p:cNvPr descr="image.png" id="911" name="Google Shape;911;p54"/>
          <p:cNvPicPr preferRelativeResize="0"/>
          <p:nvPr/>
        </p:nvPicPr>
        <p:blipFill rotWithShape="1">
          <a:blip r:embed="rId4">
            <a:alphaModFix/>
          </a:blip>
          <a:srcRect b="0" l="0" r="0" t="0"/>
          <a:stretch/>
        </p:blipFill>
        <p:spPr>
          <a:xfrm>
            <a:off x="869375" y="2243275"/>
            <a:ext cx="1785938" cy="1285875"/>
          </a:xfrm>
          <a:prstGeom prst="rect">
            <a:avLst/>
          </a:prstGeom>
          <a:noFill/>
          <a:ln>
            <a:noFill/>
          </a:ln>
        </p:spPr>
      </p:pic>
      <p:pic>
        <p:nvPicPr>
          <p:cNvPr descr="image.png" id="912" name="Google Shape;912;p54"/>
          <p:cNvPicPr preferRelativeResize="0"/>
          <p:nvPr/>
        </p:nvPicPr>
        <p:blipFill rotWithShape="1">
          <a:blip r:embed="rId5">
            <a:alphaModFix/>
          </a:blip>
          <a:srcRect b="0" l="0" r="0" t="0"/>
          <a:stretch/>
        </p:blipFill>
        <p:spPr>
          <a:xfrm>
            <a:off x="6536263" y="2107538"/>
            <a:ext cx="1785938" cy="2143125"/>
          </a:xfrm>
          <a:prstGeom prst="rect">
            <a:avLst/>
          </a:prstGeom>
          <a:noFill/>
          <a:ln>
            <a:noFill/>
          </a:ln>
        </p:spPr>
      </p:pic>
      <p:pic>
        <p:nvPicPr>
          <p:cNvPr descr="image.png" id="913" name="Google Shape;913;p54"/>
          <p:cNvPicPr preferRelativeResize="0"/>
          <p:nvPr/>
        </p:nvPicPr>
        <p:blipFill rotWithShape="1">
          <a:blip r:embed="rId6">
            <a:alphaModFix/>
          </a:blip>
          <a:srcRect b="0" l="0" r="0" t="0"/>
          <a:stretch/>
        </p:blipFill>
        <p:spPr>
          <a:xfrm>
            <a:off x="3428731" y="918104"/>
            <a:ext cx="1785938" cy="2543175"/>
          </a:xfrm>
          <a:prstGeom prst="rect">
            <a:avLst/>
          </a:prstGeom>
          <a:noFill/>
          <a:ln>
            <a:noFill/>
          </a:ln>
        </p:spPr>
      </p:pic>
      <p:pic>
        <p:nvPicPr>
          <p:cNvPr descr="image.png" id="914" name="Google Shape;914;p54"/>
          <p:cNvPicPr preferRelativeResize="0"/>
          <p:nvPr/>
        </p:nvPicPr>
        <p:blipFill rotWithShape="1">
          <a:blip r:embed="rId7">
            <a:alphaModFix/>
          </a:blip>
          <a:srcRect b="0" l="0" r="0" t="0"/>
          <a:stretch/>
        </p:blipFill>
        <p:spPr>
          <a:xfrm>
            <a:off x="3428731" y="3825610"/>
            <a:ext cx="1785938" cy="1321594"/>
          </a:xfrm>
          <a:prstGeom prst="rect">
            <a:avLst/>
          </a:prstGeom>
          <a:noFill/>
          <a:ln>
            <a:noFill/>
          </a:ln>
        </p:spPr>
      </p:pic>
      <p:sp>
        <p:nvSpPr>
          <p:cNvPr id="915" name="Google Shape;915;p54"/>
          <p:cNvSpPr txBox="1"/>
          <p:nvPr/>
        </p:nvSpPr>
        <p:spPr>
          <a:xfrm>
            <a:off x="1019394" y="2918354"/>
            <a:ext cx="1485900" cy="24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87" u="none" cap="none" strike="noStrike">
                <a:solidFill>
                  <a:srgbClr val="94A3B8"/>
                </a:solidFill>
                <a:latin typeface="Outfit"/>
                <a:ea typeface="Outfit"/>
                <a:cs typeface="Outfit"/>
                <a:sym typeface="Outfit"/>
              </a:rPr>
              <a:t>User inputs address and triggers analysis request.</a:t>
            </a:r>
            <a:endParaRPr sz="1050"/>
          </a:p>
        </p:txBody>
      </p:sp>
      <p:pic>
        <p:nvPicPr>
          <p:cNvPr descr="image.png" id="916" name="Google Shape;916;p54"/>
          <p:cNvPicPr preferRelativeResize="0"/>
          <p:nvPr/>
        </p:nvPicPr>
        <p:blipFill rotWithShape="1">
          <a:blip r:embed="rId8">
            <a:alphaModFix/>
          </a:blip>
          <a:srcRect b="0" l="0" r="0" t="0"/>
          <a:stretch/>
        </p:blipFill>
        <p:spPr>
          <a:xfrm>
            <a:off x="869369" y="2388229"/>
            <a:ext cx="164306" cy="128588"/>
          </a:xfrm>
          <a:prstGeom prst="rect">
            <a:avLst/>
          </a:prstGeom>
          <a:noFill/>
          <a:ln>
            <a:noFill/>
          </a:ln>
        </p:spPr>
      </p:pic>
      <p:sp>
        <p:nvSpPr>
          <p:cNvPr id="917" name="Google Shape;917;p54"/>
          <p:cNvSpPr txBox="1"/>
          <p:nvPr/>
        </p:nvSpPr>
        <p:spPr>
          <a:xfrm>
            <a:off x="1032738" y="2365304"/>
            <a:ext cx="1250100" cy="31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012" u="none" cap="none" strike="noStrike">
                <a:solidFill>
                  <a:srgbClr val="FFFFFF"/>
                </a:solidFill>
                <a:latin typeface="Outfit"/>
                <a:ea typeface="Outfit"/>
                <a:cs typeface="Outfit"/>
                <a:sym typeface="Outfit"/>
              </a:rPr>
              <a:t>1. User Interface (Input)</a:t>
            </a:r>
            <a:endParaRPr sz="1050"/>
          </a:p>
        </p:txBody>
      </p:sp>
      <p:pic>
        <p:nvPicPr>
          <p:cNvPr descr="image.png" id="918" name="Google Shape;918;p54"/>
          <p:cNvPicPr preferRelativeResize="0"/>
          <p:nvPr/>
        </p:nvPicPr>
        <p:blipFill rotWithShape="1">
          <a:blip r:embed="rId9">
            <a:alphaModFix/>
          </a:blip>
          <a:srcRect b="0" l="0" r="0" t="0"/>
          <a:stretch/>
        </p:blipFill>
        <p:spPr>
          <a:xfrm>
            <a:off x="1019394" y="3216704"/>
            <a:ext cx="1485900" cy="185738"/>
          </a:xfrm>
          <a:prstGeom prst="rect">
            <a:avLst/>
          </a:prstGeom>
          <a:noFill/>
          <a:ln>
            <a:noFill/>
          </a:ln>
        </p:spPr>
      </p:pic>
      <p:sp>
        <p:nvSpPr>
          <p:cNvPr id="919" name="Google Shape;919;p54"/>
          <p:cNvSpPr txBox="1"/>
          <p:nvPr/>
        </p:nvSpPr>
        <p:spPr>
          <a:xfrm>
            <a:off x="3578750" y="1603904"/>
            <a:ext cx="1485900" cy="60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87" u="none" cap="none" strike="noStrike">
                <a:solidFill>
                  <a:srgbClr val="FFFFFF"/>
                </a:solidFill>
                <a:latin typeface="Outfit"/>
                <a:ea typeface="Outfit"/>
                <a:cs typeface="Outfit"/>
                <a:sym typeface="Outfit"/>
              </a:rPr>
              <a:t>Steps:</a:t>
            </a:r>
            <a:r>
              <a:rPr b="0" i="0" lang="en" sz="787" u="none" cap="none" strike="noStrike">
                <a:solidFill>
                  <a:srgbClr val="94A3B8"/>
                </a:solidFill>
                <a:latin typeface="Outfit"/>
                <a:ea typeface="Outfit"/>
                <a:cs typeface="Outfit"/>
                <a:sym typeface="Outfit"/>
              </a:rPr>
              <a:t> - Query Data Layer (Go to Step 3) - Execute Valuation / Risk Adjustment - Call Intelligence Layer (Go to Step 4) </a:t>
            </a:r>
            <a:r>
              <a:rPr b="1" i="0" lang="en" sz="787" u="none" cap="none" strike="noStrike">
                <a:solidFill>
                  <a:srgbClr val="FFFFFF"/>
                </a:solidFill>
                <a:latin typeface="Outfit"/>
                <a:ea typeface="Outfit"/>
                <a:cs typeface="Outfit"/>
                <a:sym typeface="Outfit"/>
              </a:rPr>
              <a:t>Output:</a:t>
            </a:r>
            <a:r>
              <a:rPr b="0" i="0" lang="en" sz="787" u="none" cap="none" strike="noStrike">
                <a:solidFill>
                  <a:srgbClr val="94A3B8"/>
                </a:solidFill>
                <a:latin typeface="Outfit"/>
                <a:ea typeface="Outfit"/>
                <a:cs typeface="Outfit"/>
                <a:sym typeface="Outfit"/>
              </a:rPr>
              <a:t> Final Report Data &amp; Memo</a:t>
            </a:r>
            <a:endParaRPr sz="1050"/>
          </a:p>
        </p:txBody>
      </p:sp>
      <p:pic>
        <p:nvPicPr>
          <p:cNvPr descr="image.png" id="920" name="Google Shape;920;p54"/>
          <p:cNvPicPr preferRelativeResize="0"/>
          <p:nvPr/>
        </p:nvPicPr>
        <p:blipFill rotWithShape="1">
          <a:blip r:embed="rId10">
            <a:alphaModFix/>
          </a:blip>
          <a:srcRect b="0" l="0" r="0" t="0"/>
          <a:stretch/>
        </p:blipFill>
        <p:spPr>
          <a:xfrm>
            <a:off x="4278838" y="3532716"/>
            <a:ext cx="85725" cy="114300"/>
          </a:xfrm>
          <a:prstGeom prst="rect">
            <a:avLst/>
          </a:prstGeom>
          <a:noFill/>
          <a:ln>
            <a:noFill/>
          </a:ln>
        </p:spPr>
      </p:pic>
      <p:sp>
        <p:nvSpPr>
          <p:cNvPr id="921" name="Google Shape;921;p54"/>
          <p:cNvSpPr txBox="1"/>
          <p:nvPr/>
        </p:nvSpPr>
        <p:spPr>
          <a:xfrm>
            <a:off x="4103832" y="3647022"/>
            <a:ext cx="7365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C084FC"/>
                </a:solidFill>
                <a:latin typeface="Outfit Medium"/>
                <a:ea typeface="Outfit Medium"/>
                <a:cs typeface="Outfit Medium"/>
                <a:sym typeface="Outfit Medium"/>
              </a:rPr>
              <a:t>Call Gemini</a:t>
            </a:r>
            <a:endParaRPr sz="1050"/>
          </a:p>
        </p:txBody>
      </p:sp>
      <p:sp>
        <p:nvSpPr>
          <p:cNvPr id="922" name="Google Shape;922;p54"/>
          <p:cNvSpPr txBox="1"/>
          <p:nvPr/>
        </p:nvSpPr>
        <p:spPr>
          <a:xfrm>
            <a:off x="3578750" y="4511410"/>
            <a:ext cx="1485900" cy="24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87" u="none" cap="none" strike="noStrike">
                <a:solidFill>
                  <a:srgbClr val="94A3B8"/>
                </a:solidFill>
                <a:latin typeface="Outfit"/>
                <a:ea typeface="Outfit"/>
                <a:cs typeface="Outfit"/>
                <a:sym typeface="Outfit"/>
              </a:rPr>
              <a:t>Synthesizes scores into natural language Deal Memos.</a:t>
            </a:r>
            <a:endParaRPr sz="1050"/>
          </a:p>
        </p:txBody>
      </p:sp>
      <p:pic>
        <p:nvPicPr>
          <p:cNvPr descr="image.png" id="923" name="Google Shape;923;p54"/>
          <p:cNvPicPr preferRelativeResize="0"/>
          <p:nvPr/>
        </p:nvPicPr>
        <p:blipFill rotWithShape="1">
          <a:blip r:embed="rId11">
            <a:alphaModFix/>
          </a:blip>
          <a:srcRect b="0" l="0" r="0" t="0"/>
          <a:stretch/>
        </p:blipFill>
        <p:spPr>
          <a:xfrm>
            <a:off x="6686281" y="2461154"/>
            <a:ext cx="114300" cy="128588"/>
          </a:xfrm>
          <a:prstGeom prst="rect">
            <a:avLst/>
          </a:prstGeom>
          <a:noFill/>
          <a:ln>
            <a:noFill/>
          </a:ln>
        </p:spPr>
      </p:pic>
      <p:sp>
        <p:nvSpPr>
          <p:cNvPr id="924" name="Google Shape;924;p54"/>
          <p:cNvSpPr txBox="1"/>
          <p:nvPr/>
        </p:nvSpPr>
        <p:spPr>
          <a:xfrm>
            <a:off x="6872019" y="2443294"/>
            <a:ext cx="1271700" cy="15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012" u="none" cap="none" strike="noStrike">
                <a:solidFill>
                  <a:srgbClr val="FFFFFF"/>
                </a:solidFill>
                <a:latin typeface="Outfit"/>
                <a:ea typeface="Outfit"/>
                <a:cs typeface="Outfit"/>
                <a:sym typeface="Outfit"/>
              </a:rPr>
              <a:t>3. Data Layer (Source)</a:t>
            </a:r>
            <a:endParaRPr sz="1050"/>
          </a:p>
        </p:txBody>
      </p:sp>
      <p:pic>
        <p:nvPicPr>
          <p:cNvPr descr="image.png" id="925" name="Google Shape;925;p54"/>
          <p:cNvPicPr preferRelativeResize="0"/>
          <p:nvPr/>
        </p:nvPicPr>
        <p:blipFill rotWithShape="1">
          <a:blip r:embed="rId12">
            <a:alphaModFix/>
          </a:blip>
          <a:srcRect b="0" l="0" r="0" t="0"/>
          <a:stretch/>
        </p:blipFill>
        <p:spPr>
          <a:xfrm>
            <a:off x="6686281" y="2793338"/>
            <a:ext cx="1485900" cy="185738"/>
          </a:xfrm>
          <a:prstGeom prst="rect">
            <a:avLst/>
          </a:prstGeom>
          <a:noFill/>
          <a:ln>
            <a:noFill/>
          </a:ln>
        </p:spPr>
      </p:pic>
      <p:pic>
        <p:nvPicPr>
          <p:cNvPr descr="image.png" id="926" name="Google Shape;926;p54"/>
          <p:cNvPicPr preferRelativeResize="0"/>
          <p:nvPr/>
        </p:nvPicPr>
        <p:blipFill rotWithShape="1">
          <a:blip r:embed="rId13">
            <a:alphaModFix/>
          </a:blip>
          <a:srcRect b="0" l="0" r="0" t="0"/>
          <a:stretch/>
        </p:blipFill>
        <p:spPr>
          <a:xfrm>
            <a:off x="3578750" y="1189566"/>
            <a:ext cx="164306" cy="128588"/>
          </a:xfrm>
          <a:prstGeom prst="rect">
            <a:avLst/>
          </a:prstGeom>
          <a:noFill/>
          <a:ln>
            <a:noFill/>
          </a:ln>
        </p:spPr>
      </p:pic>
      <p:sp>
        <p:nvSpPr>
          <p:cNvPr id="927" name="Google Shape;927;p54"/>
          <p:cNvSpPr txBox="1"/>
          <p:nvPr/>
        </p:nvSpPr>
        <p:spPr>
          <a:xfrm>
            <a:off x="3814494" y="1089554"/>
            <a:ext cx="1250100" cy="31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012" u="none" cap="none" strike="noStrike">
                <a:solidFill>
                  <a:srgbClr val="FFFFFF"/>
                </a:solidFill>
                <a:latin typeface="Outfit"/>
                <a:ea typeface="Outfit"/>
                <a:cs typeface="Outfit"/>
                <a:sym typeface="Outfit"/>
              </a:rPr>
              <a:t>2. Core Logic (Processor)</a:t>
            </a:r>
            <a:endParaRPr sz="1050"/>
          </a:p>
        </p:txBody>
      </p:sp>
      <p:pic>
        <p:nvPicPr>
          <p:cNvPr descr="image.png" id="928" name="Google Shape;928;p54"/>
          <p:cNvPicPr preferRelativeResize="0"/>
          <p:nvPr/>
        </p:nvPicPr>
        <p:blipFill rotWithShape="1">
          <a:blip r:embed="rId14">
            <a:alphaModFix/>
          </a:blip>
          <a:srcRect b="0" l="0" r="0" t="0"/>
          <a:stretch/>
        </p:blipFill>
        <p:spPr>
          <a:xfrm>
            <a:off x="3578825" y="2316966"/>
            <a:ext cx="1485900" cy="300037"/>
          </a:xfrm>
          <a:prstGeom prst="rect">
            <a:avLst/>
          </a:prstGeom>
          <a:noFill/>
          <a:ln>
            <a:noFill/>
          </a:ln>
        </p:spPr>
      </p:pic>
      <p:pic>
        <p:nvPicPr>
          <p:cNvPr descr="image.png" id="929" name="Google Shape;929;p54"/>
          <p:cNvPicPr preferRelativeResize="0"/>
          <p:nvPr/>
        </p:nvPicPr>
        <p:blipFill rotWithShape="1">
          <a:blip r:embed="rId15">
            <a:alphaModFix/>
          </a:blip>
          <a:srcRect b="0" l="0" r="0" t="0"/>
          <a:stretch/>
        </p:blipFill>
        <p:spPr>
          <a:xfrm>
            <a:off x="3578750" y="4097073"/>
            <a:ext cx="128588" cy="128588"/>
          </a:xfrm>
          <a:prstGeom prst="rect">
            <a:avLst/>
          </a:prstGeom>
          <a:noFill/>
          <a:ln>
            <a:noFill/>
          </a:ln>
        </p:spPr>
      </p:pic>
      <p:sp>
        <p:nvSpPr>
          <p:cNvPr id="930" name="Google Shape;930;p54"/>
          <p:cNvSpPr txBox="1"/>
          <p:nvPr/>
        </p:nvSpPr>
        <p:spPr>
          <a:xfrm>
            <a:off x="3778775" y="3997060"/>
            <a:ext cx="1285800" cy="31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012" u="none" cap="none" strike="noStrike">
                <a:solidFill>
                  <a:srgbClr val="FFFFFF"/>
                </a:solidFill>
                <a:latin typeface="Outfit"/>
                <a:ea typeface="Outfit"/>
                <a:cs typeface="Outfit"/>
                <a:sym typeface="Outfit"/>
              </a:rPr>
              <a:t>4. Intelligence (Memo Gen)</a:t>
            </a:r>
            <a:endParaRPr sz="1050"/>
          </a:p>
        </p:txBody>
      </p:sp>
      <p:pic>
        <p:nvPicPr>
          <p:cNvPr descr="image.png" id="931" name="Google Shape;931;p54"/>
          <p:cNvPicPr preferRelativeResize="0"/>
          <p:nvPr/>
        </p:nvPicPr>
        <p:blipFill rotWithShape="1">
          <a:blip r:embed="rId16">
            <a:alphaModFix/>
          </a:blip>
          <a:srcRect b="0" l="0" r="0" t="0"/>
          <a:stretch/>
        </p:blipFill>
        <p:spPr>
          <a:xfrm>
            <a:off x="3578675" y="4753810"/>
            <a:ext cx="1485900" cy="185738"/>
          </a:xfrm>
          <a:prstGeom prst="rect">
            <a:avLst/>
          </a:prstGeom>
          <a:noFill/>
          <a:ln>
            <a:noFill/>
          </a:ln>
        </p:spPr>
      </p:pic>
      <p:sp>
        <p:nvSpPr>
          <p:cNvPr id="932" name="Google Shape;932;p54"/>
          <p:cNvSpPr txBox="1"/>
          <p:nvPr/>
        </p:nvSpPr>
        <p:spPr>
          <a:xfrm>
            <a:off x="6686281" y="3093375"/>
            <a:ext cx="14859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FBBF24"/>
                </a:solidFill>
                <a:latin typeface="Outfit"/>
                <a:ea typeface="Outfit"/>
                <a:cs typeface="Outfit"/>
                <a:sym typeface="Outfit"/>
              </a:rPr>
              <a:t>cre_data.properties</a:t>
            </a:r>
            <a:endParaRPr sz="1050"/>
          </a:p>
        </p:txBody>
      </p:sp>
      <p:sp>
        <p:nvSpPr>
          <p:cNvPr id="933" name="Google Shape;933;p54"/>
          <p:cNvSpPr txBox="1"/>
          <p:nvPr/>
        </p:nvSpPr>
        <p:spPr>
          <a:xfrm>
            <a:off x="6686281" y="3257682"/>
            <a:ext cx="14859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FBBF24"/>
                </a:solidFill>
                <a:latin typeface="Outfit"/>
                <a:ea typeface="Outfit"/>
                <a:cs typeface="Outfit"/>
                <a:sym typeface="Outfit"/>
              </a:rPr>
              <a:t>cre_data.market_trends</a:t>
            </a:r>
            <a:endParaRPr sz="1050"/>
          </a:p>
        </p:txBody>
      </p:sp>
      <p:sp>
        <p:nvSpPr>
          <p:cNvPr id="934" name="Google Shape;934;p54"/>
          <p:cNvSpPr txBox="1"/>
          <p:nvPr/>
        </p:nvSpPr>
        <p:spPr>
          <a:xfrm>
            <a:off x="6686281" y="3421988"/>
            <a:ext cx="14859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FBBF24"/>
                </a:solidFill>
                <a:latin typeface="Outfit"/>
                <a:ea typeface="Outfit"/>
                <a:cs typeface="Outfit"/>
                <a:sym typeface="Outfit"/>
              </a:rPr>
              <a:t>cre_data.nfip_policy</a:t>
            </a:r>
            <a:endParaRPr sz="1050"/>
          </a:p>
        </p:txBody>
      </p:sp>
      <p:sp>
        <p:nvSpPr>
          <p:cNvPr id="935" name="Google Shape;935;p54"/>
          <p:cNvSpPr txBox="1"/>
          <p:nvPr/>
        </p:nvSpPr>
        <p:spPr>
          <a:xfrm>
            <a:off x="6686281" y="3586294"/>
            <a:ext cx="14859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FBBF24"/>
                </a:solidFill>
                <a:latin typeface="Outfit"/>
                <a:ea typeface="Outfit"/>
                <a:cs typeface="Outfit"/>
                <a:sym typeface="Outfit"/>
              </a:rPr>
              <a:t>cre_data.risks</a:t>
            </a:r>
            <a:endParaRPr sz="1050"/>
          </a:p>
        </p:txBody>
      </p:sp>
      <p:sp>
        <p:nvSpPr>
          <p:cNvPr id="936" name="Google Shape;936;p54"/>
          <p:cNvSpPr txBox="1"/>
          <p:nvPr/>
        </p:nvSpPr>
        <p:spPr>
          <a:xfrm>
            <a:off x="6686281" y="3807750"/>
            <a:ext cx="1485900" cy="12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87" u="none" cap="none" strike="noStrike">
                <a:solidFill>
                  <a:srgbClr val="4ADE80"/>
                </a:solidFill>
                <a:latin typeface="Outfit"/>
                <a:ea typeface="Outfit"/>
                <a:cs typeface="Outfit"/>
                <a:sym typeface="Outfit"/>
              </a:rPr>
              <a:t>(Returns Data to Logic)</a:t>
            </a:r>
            <a:endParaRPr sz="1050"/>
          </a:p>
        </p:txBody>
      </p:sp>
      <p:pic>
        <p:nvPicPr>
          <p:cNvPr descr="image.png" id="937" name="Google Shape;937;p54"/>
          <p:cNvPicPr preferRelativeResize="0"/>
          <p:nvPr/>
        </p:nvPicPr>
        <p:blipFill rotWithShape="1">
          <a:blip r:embed="rId17">
            <a:alphaModFix/>
          </a:blip>
          <a:srcRect b="0" l="0" r="0" t="0"/>
          <a:stretch/>
        </p:blipFill>
        <p:spPr>
          <a:xfrm rot="-5400000">
            <a:off x="5507063" y="4285579"/>
            <a:ext cx="85725" cy="114300"/>
          </a:xfrm>
          <a:prstGeom prst="rect">
            <a:avLst/>
          </a:prstGeom>
          <a:noFill/>
          <a:ln>
            <a:noFill/>
          </a:ln>
        </p:spPr>
      </p:pic>
      <p:sp>
        <p:nvSpPr>
          <p:cNvPr id="938" name="Google Shape;938;p54"/>
          <p:cNvSpPr txBox="1"/>
          <p:nvPr/>
        </p:nvSpPr>
        <p:spPr>
          <a:xfrm>
            <a:off x="5357559" y="4583404"/>
            <a:ext cx="478500" cy="10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675" u="none" cap="none" strike="noStrike">
                <a:solidFill>
                  <a:srgbClr val="4ADE80"/>
                </a:solidFill>
                <a:latin typeface="Outfit Medium"/>
                <a:ea typeface="Outfit Medium"/>
                <a:cs typeface="Outfit Medium"/>
                <a:sym typeface="Outfit Medium"/>
              </a:rPr>
              <a:t>Return Data</a:t>
            </a:r>
            <a:endParaRPr sz="10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5"/>
          <p:cNvSpPr txBox="1"/>
          <p:nvPr>
            <p:ph idx="4294967295" type="title"/>
          </p:nvPr>
        </p:nvSpPr>
        <p:spPr>
          <a:xfrm>
            <a:off x="228600" y="128025"/>
            <a:ext cx="5829000" cy="6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Major System Components</a:t>
            </a:r>
            <a:endParaRPr/>
          </a:p>
        </p:txBody>
      </p:sp>
      <p:sp>
        <p:nvSpPr>
          <p:cNvPr id="944" name="Google Shape;944;p55"/>
          <p:cNvSpPr txBox="1"/>
          <p:nvPr>
            <p:ph idx="2" type="title"/>
          </p:nvPr>
        </p:nvSpPr>
        <p:spPr>
          <a:xfrm>
            <a:off x="77700" y="1196775"/>
            <a:ext cx="28818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lang="en" sz="1800">
                <a:solidFill>
                  <a:srgbClr val="38BDF8"/>
                </a:solidFill>
                <a:latin typeface="Outfit SemiBold"/>
                <a:ea typeface="Outfit SemiBold"/>
                <a:cs typeface="Outfit SemiBold"/>
                <a:sym typeface="Outfit SemiBold"/>
              </a:rPr>
              <a:t>Core System Modules</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945" name="Google Shape;945;p55"/>
          <p:cNvSpPr txBox="1"/>
          <p:nvPr>
            <p:ph idx="3" type="title"/>
          </p:nvPr>
        </p:nvSpPr>
        <p:spPr>
          <a:xfrm>
            <a:off x="3145825" y="1196775"/>
            <a:ext cx="22965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lang="en" sz="1800">
                <a:solidFill>
                  <a:srgbClr val="4ADE80"/>
                </a:solidFill>
                <a:latin typeface="Outfit SemiBold"/>
                <a:ea typeface="Outfit SemiBold"/>
                <a:cs typeface="Outfit SemiBold"/>
                <a:sym typeface="Outfit SemiBold"/>
              </a:rPr>
              <a:t>Key Technologies</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946" name="Google Shape;946;p55"/>
          <p:cNvSpPr txBox="1"/>
          <p:nvPr>
            <p:ph idx="4" type="title"/>
          </p:nvPr>
        </p:nvSpPr>
        <p:spPr>
          <a:xfrm>
            <a:off x="6080700" y="1196775"/>
            <a:ext cx="3121800" cy="29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lang="en" sz="1800">
                <a:solidFill>
                  <a:srgbClr val="FBBF24"/>
                </a:solidFill>
                <a:latin typeface="Outfit SemiBold"/>
                <a:ea typeface="Outfit SemiBold"/>
                <a:cs typeface="Outfit SemiBold"/>
                <a:sym typeface="Outfit SemiBold"/>
              </a:rPr>
              <a:t>Data Sources (BigQuery)</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947" name="Google Shape;947;p55"/>
          <p:cNvSpPr txBox="1"/>
          <p:nvPr>
            <p:ph idx="16" type="body"/>
          </p:nvPr>
        </p:nvSpPr>
        <p:spPr>
          <a:xfrm>
            <a:off x="228600" y="1737300"/>
            <a:ext cx="2982300" cy="2976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Outfit"/>
              <a:buChar char="➢"/>
            </a:pPr>
            <a:r>
              <a:rPr lang="en" sz="1200">
                <a:latin typeface="Outfit"/>
                <a:ea typeface="Outfit"/>
                <a:cs typeface="Outfit"/>
                <a:sym typeface="Outfit"/>
              </a:rPr>
              <a:t>Data Ingestion &amp; Preprocessing</a:t>
            </a:r>
            <a:endParaRPr sz="1200">
              <a:latin typeface="Outfit"/>
              <a:ea typeface="Outfit"/>
              <a:cs typeface="Outfit"/>
              <a:sym typeface="Outfit"/>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Valuation &amp; Risk Engine</a:t>
            </a:r>
            <a:endParaRPr sz="1400">
              <a:latin typeface="Arial"/>
              <a:ea typeface="Arial"/>
              <a:cs typeface="Arial"/>
              <a:sym typeface="Arial"/>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Dashboard Visualization</a:t>
            </a:r>
            <a:endParaRPr sz="1400">
              <a:latin typeface="Arial"/>
              <a:ea typeface="Arial"/>
              <a:cs typeface="Arial"/>
              <a:sym typeface="Arial"/>
            </a:endParaRPr>
          </a:p>
          <a:p>
            <a:pPr indent="-304800" lvl="0" marL="457200" rtl="0" algn="l">
              <a:spcBef>
                <a:spcPts val="0"/>
              </a:spcBef>
              <a:spcAft>
                <a:spcPts val="0"/>
              </a:spcAft>
              <a:buSzPts val="1200"/>
              <a:buFont typeface="Outfit"/>
              <a:buChar char="➢"/>
            </a:pPr>
            <a:r>
              <a:rPr lang="en" sz="1200">
                <a:latin typeface="Outfit"/>
                <a:ea typeface="Outfit"/>
                <a:cs typeface="Outfit"/>
                <a:sym typeface="Outfit"/>
              </a:rPr>
              <a:t>Deal Memo Generation </a:t>
            </a:r>
            <a:endParaRPr sz="1200">
              <a:latin typeface="Outfit"/>
              <a:ea typeface="Outfit"/>
              <a:cs typeface="Outfit"/>
              <a:sym typeface="Outfit"/>
            </a:endParaRPr>
          </a:p>
          <a:p>
            <a:pPr indent="0" lvl="0" marL="0" rtl="0" algn="l">
              <a:spcBef>
                <a:spcPts val="0"/>
              </a:spcBef>
              <a:spcAft>
                <a:spcPts val="0"/>
              </a:spcAft>
              <a:buNone/>
            </a:pPr>
            <a:r>
              <a:t/>
            </a:r>
            <a:endParaRPr/>
          </a:p>
        </p:txBody>
      </p:sp>
      <p:sp>
        <p:nvSpPr>
          <p:cNvPr id="948" name="Google Shape;948;p55"/>
          <p:cNvSpPr txBox="1"/>
          <p:nvPr>
            <p:ph idx="17" type="body"/>
          </p:nvPr>
        </p:nvSpPr>
        <p:spPr>
          <a:xfrm>
            <a:off x="3145775" y="1737300"/>
            <a:ext cx="2881800" cy="20025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sz="1200">
                <a:latin typeface="Outfit"/>
                <a:ea typeface="Outfit"/>
                <a:cs typeface="Outfit"/>
                <a:sym typeface="Outfit"/>
              </a:rPr>
              <a:t> Python  (Backend Logic)</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Streamlit (Interactive Frontend UI)</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Google Cloud BigQuery (Central Data Warehouse)</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Gemini Pro  (Memo Synthesis &amp; NLP)</a:t>
            </a:r>
            <a:endParaRPr sz="1400">
              <a:latin typeface="Arial"/>
              <a:ea typeface="Arial"/>
              <a:cs typeface="Arial"/>
              <a:sym typeface="Arial"/>
            </a:endParaRPr>
          </a:p>
          <a:p>
            <a:pPr indent="0" lvl="0" marL="0" rtl="0" algn="l">
              <a:spcBef>
                <a:spcPts val="0"/>
              </a:spcBef>
              <a:spcAft>
                <a:spcPts val="0"/>
              </a:spcAft>
              <a:buNone/>
            </a:pPr>
            <a:r>
              <a:t/>
            </a:r>
            <a:endParaRPr/>
          </a:p>
        </p:txBody>
      </p:sp>
      <p:sp>
        <p:nvSpPr>
          <p:cNvPr id="949" name="Google Shape;949;p55"/>
          <p:cNvSpPr txBox="1"/>
          <p:nvPr>
            <p:ph idx="18" type="body"/>
          </p:nvPr>
        </p:nvSpPr>
        <p:spPr>
          <a:xfrm>
            <a:off x="6184600" y="1700525"/>
            <a:ext cx="2881800" cy="20025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a:t> </a:t>
            </a:r>
            <a:r>
              <a:rPr lang="en" sz="1200">
                <a:latin typeface="Outfit"/>
                <a:ea typeface="Outfit"/>
                <a:cs typeface="Outfit"/>
                <a:sym typeface="Outfit"/>
              </a:rPr>
              <a:t>cre_data.properties (Asset Details)</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cre_data.market_trends (Cap Rates, Pricing)</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cre_data.nfip_policy (Flood Insurance Data)</a:t>
            </a:r>
            <a:endParaRPr sz="1400">
              <a:latin typeface="Arial"/>
              <a:ea typeface="Arial"/>
              <a:cs typeface="Arial"/>
              <a:sym typeface="Arial"/>
            </a:endParaRPr>
          </a:p>
          <a:p>
            <a:pPr indent="-292100" lvl="0" marL="457200" rtl="0" algn="l">
              <a:spcBef>
                <a:spcPts val="0"/>
              </a:spcBef>
              <a:spcAft>
                <a:spcPts val="0"/>
              </a:spcAft>
              <a:buSzPts val="1000"/>
              <a:buChar char="➢"/>
            </a:pPr>
            <a:r>
              <a:rPr lang="en" sz="1200">
                <a:latin typeface="Outfit"/>
                <a:ea typeface="Outfit"/>
                <a:cs typeface="Outfit"/>
                <a:sym typeface="Outfit"/>
              </a:rPr>
              <a:t>cre_data.risks (Zone Risk Adjustments)</a:t>
            </a:r>
            <a:endParaRPr sz="1400">
              <a:latin typeface="Arial"/>
              <a:ea typeface="Arial"/>
              <a:cs typeface="Arial"/>
              <a:sym typeface="Arial"/>
            </a:endParaRPr>
          </a:p>
          <a:p>
            <a:pPr indent="0" lvl="0" marL="457200" rtl="0" algn="l">
              <a:spcBef>
                <a:spcPts val="0"/>
              </a:spcBef>
              <a:spcAft>
                <a:spcPts val="0"/>
              </a:spcAft>
              <a:buNone/>
            </a:pPr>
            <a:r>
              <a:t/>
            </a:r>
            <a:endParaRPr/>
          </a:p>
        </p:txBody>
      </p:sp>
      <p:cxnSp>
        <p:nvCxnSpPr>
          <p:cNvPr id="950" name="Google Shape;950;p55"/>
          <p:cNvCxnSpPr/>
          <p:nvPr/>
        </p:nvCxnSpPr>
        <p:spPr>
          <a:xfrm>
            <a:off x="65175" y="1596700"/>
            <a:ext cx="8873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56"/>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